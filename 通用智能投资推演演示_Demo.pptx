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notesSlides/notesSlide1.xml" Type="http://schemas.openxmlformats.org/officeDocument/2006/relationships/notesSlide"/><Relationship Id="rId19" Target="notesSlides/notesSlide2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26" Target="notesSlides/notesSlide9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大家好,欢迎参加本次演示。今天我将向大家展示一款创新的人机协同决策辅助工具。它并非旨在替代人类,而是作为您最强大的决策参谋,通过结构化的分析,帮助您在复杂的市场环境中做出更明智的决策。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,让我们明确这款产品的定位。它不是一个替您做决定的黑盒AI,而是一个透明、强大的"决策参谋"。AI的工作是处理海量信息,将复杂的市场环境拆解成清晰的结构化素材。而您,作为决策者,将拥有最终的、完全的自主权。这种模式的核心区别在于,我们不引导结论,而是拓宽您的决策视野,让您对局面有更强的掌控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工作流程非常清晰,分为六个步骤。从精准理解您的需求开始,到全面分析当前情境,再到智能生成多种行动路径。随后,系统会对每条路径进行严格的风险校验,并提供具体的行动方案。最后,所有信息都会汇总成一份清晰的综合评估报告,帮助您做出最明智的选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,让我们通过一个具体的案例来感受一下。假设一位投资者想在新能源行业进行投资。我们的系统会生成四条截然不同的行动路径,包括长期持有龙头、赛道轮动、ETF分散投资以及与传统能源组合配置。对于每一条路径,系统都会清晰地列出潜在风险和相应的应对预案,为决策者提供全面的信息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让决策更直观,我们将这四条路径进行了横向对比。从表格中可以清晰地看到,不同路径在潜在收益和风险等级上的差异。例如,龙头企业持有策略潜在收益高,但风险也处于中等水平;而ETF分散投资则风险较低,收益也相对平稳。这种清晰的对比,能帮助决策者快速把握各选项的核心特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风险控制是决策中至关重要的一环。我们的工具内置了两种核心风控理念。一是分层止损机制,通过设置多档止损线,动态管理风险。二是极端场景应急预案,系统会模拟各种极端情况并提供应对策略,帮助您在压力下保持理性,做出正确的决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理论说了很多,现在让我们通过一段实机操作演示,直观地感受一下工具的工作流程。大家可以看到,从输入一个投资问题开始,到系统生成结构化的分析报告,整个过程是如何高效、清晰地完成的。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当然,今天展示的Demo只是一个起点。我们的商用版本将具备更强大的扩展能力。它可以接入实时市场数据,支持企业战略规划等更多决策场景,还能根据您的需求进行个性化配置,并通过API与您现有的业务系统无缝集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最后,我们坚信,真正的智能在于赋能人类决策,而非取代。我们的工具正是为了实现这一目标。感谢大家的聆听,期待与您进一步交流。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.jpeg" Type="http://schemas.openxmlformats.org/officeDocument/2006/relationships/image"/><Relationship Id="rId3" Target="../notesSlides/notesSlide9.xml" Type="http://schemas.openxmlformats.org/officeDocument/2006/relationships/notesSlid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0000">
                  <a:alpha val="30000"/>
                </a:srgbClr>
              </a:gs>
              <a:gs pos="22000">
                <a:srgbClr val="000000">
                  <a:alpha val="22000"/>
                </a:srgbClr>
              </a:gs>
              <a:gs pos="45000">
                <a:srgbClr val="000000">
                  <a:alpha val="18000"/>
                </a:srgbClr>
              </a:gs>
              <a:gs pos="72000">
                <a:srgbClr val="000000">
                  <a:alpha val="10000"/>
                </a:srgbClr>
              </a:gs>
              <a:gs pos="92000">
                <a:srgbClr val="000000">
                  <a:alpha val="600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000000">
                  <a:alpha val="35000"/>
                </a:srgbClr>
              </a:gs>
              <a:gs pos="25000">
                <a:srgbClr val="000000">
                  <a:alpha val="15000"/>
                </a:srgbClr>
              </a:gs>
              <a:gs pos="55000">
                <a:srgbClr val="000000">
                  <a:alpha val="0"/>
                </a:srgbClr>
              </a:gs>
            </a:gsLst>
            <a:lin ang="162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286000"/>
            <a:ext cx="1066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5200" spc="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通用智能投资推演演示 Demo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683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 spc="6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人机协同决策辅助工具展示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572000"/>
            <a:ext cx="762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我们的产品:人机协同结构化决策工具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22400"/>
            <a:ext cx="106680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我们的工具并非旨在替代人类决策者,而是致力于成为您最强大的决策辅助伙伴。我们坚信,最佳决策源于人类智慧与机器效率的完美结合。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311400"/>
            <a:ext cx="10668000" cy="7112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311400"/>
            <a:ext cx="50800" cy="711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41400" y="2311400"/>
            <a:ext cx="1651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794000" y="2311400"/>
            <a:ext cx="8382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一个专注于提供结构化分析素材的"</a:t>
            </a: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决策参谋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"。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302000"/>
            <a:ext cx="5334000" cy="19304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302000"/>
            <a:ext cx="50800" cy="1930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41400" y="3429000"/>
            <a:ext cx="482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 的角色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41400" y="3860800"/>
            <a:ext cx="4826000" cy="1117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负责海量信息的收集、整理、分析,并将复杂的市场环境和潜在路径以结构化的形式呈现。它不提供最终答案,而是呈现所有可能性及其内在逻辑。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477000" y="3302000"/>
            <a:ext cx="5207000" cy="19304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3302000"/>
            <a:ext cx="50800" cy="1930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756400" y="3429000"/>
            <a:ext cx="469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人类的角色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756400" y="3860800"/>
            <a:ext cx="4673600" cy="1117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作为最终决策者,您拥有完全的自主决策权。您可以基于AI提供的结构化信息,结合您的专业判断、经验和风险偏好,做出最适合的选择。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461000"/>
            <a:ext cx="10668000" cy="10414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22C55E">
                  <a:alpha val="18000"/>
                </a:srgbClr>
              </a:gs>
              <a:gs pos="100000">
                <a:srgbClr val="22C55E">
                  <a:alpha val="4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" y="5461000"/>
            <a:ext cx="50800" cy="1041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41400" y="5524500"/>
            <a:ext cx="177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本质区别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2921000" y="5524500"/>
            <a:ext cx="8382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与追求"替人做主"的通用AI不同,我们的工具坚守"辅助"定位。它不引导您走向某个特定结论,而是拓宽您的决策视野,增强您对复杂局面的掌控力,确保最终决策的权威性和灵活性完全掌握在您手中。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六步走向清晰决策:简化的业务流程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462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我们将复杂的决策过程,简化为六个清晰、易懂的业务步骤,确保您能轻松理解和使用。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34290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032000"/>
            <a:ext cx="50800" cy="2133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082800"/>
            <a:ext cx="1219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3215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286000" y="21336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需求理解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286000" y="2565400"/>
            <a:ext cx="381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286000" y="2667000"/>
            <a:ext cx="1841500" cy="863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与您深入沟通,精准捕捉您的决策目标、时间范围、关键约束及核心关注点。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2032000"/>
            <a:ext cx="34290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81500" y="2032000"/>
            <a:ext cx="50800" cy="2133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84700" y="2082800"/>
            <a:ext cx="1219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3215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5905500" y="21336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情境分析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905500" y="2565400"/>
            <a:ext cx="381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5905500" y="2667000"/>
            <a:ext cx="18415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系统自动梳理当前宏观环境、市场趋势、相关行业动态及潜在影响因素,为决策提供全面的背景信息。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2032000"/>
            <a:ext cx="34290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001000" y="2032000"/>
            <a:ext cx="50800" cy="2133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204200" y="2082800"/>
            <a:ext cx="1219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3215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0" y="21336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路径生成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0" y="2565400"/>
            <a:ext cx="381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525000" y="2667000"/>
            <a:ext cx="18415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基于情境分析,智能生成多种可能的行动方案或决策路径,涵盖从保守到积极的不同策略方向。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381500"/>
            <a:ext cx="34290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4381500"/>
            <a:ext cx="50800" cy="2133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965200" y="4432300"/>
            <a:ext cx="1219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3215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2286000" y="44831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风险校验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2286000" y="4914900"/>
            <a:ext cx="381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2286000" y="5016500"/>
            <a:ext cx="1841500" cy="863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对每条生成的路径进行系统性的风险识别和评估,揭示潜在的挑战与不确定性。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4381500" y="4381500"/>
            <a:ext cx="34290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4381500" y="4381500"/>
            <a:ext cx="50800" cy="2133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584700" y="4432300"/>
            <a:ext cx="1219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3215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5905500" y="44831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行动方案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905500" y="4914900"/>
            <a:ext cx="381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5905500" y="5016500"/>
            <a:ext cx="1841500" cy="863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为每条路径提供具体、可执行的步骤建议和关键节点的操作指引。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001000" y="4381500"/>
            <a:ext cx="3429000" cy="21336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001000" y="4381500"/>
            <a:ext cx="50800" cy="2133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8204200" y="4432300"/>
            <a:ext cx="12192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32157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525000" y="4483100"/>
            <a:ext cx="1778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综合评估</a:t>
            </a:r>
            <a:endParaRPr lang="en-US" sz="1100"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525000" y="4914900"/>
            <a:ext cx="381000" cy="254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525000" y="5016500"/>
            <a:ext cx="18415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将所有路径的信息进行结构化汇总,形成清晰的对比分析报告,助您一目了然地评估各选项的利弊。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1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案例演示:新能源行业投资决策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716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9166"/>
              </a:lnSpc>
              <a:defRPr/>
            </a:pPr>
            <a:r>
              <a:rPr lang="en-US" b="tru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投资问题:</a:t>
            </a:r>
            <a:r>
              <a:rPr lang="en-US" b="false" i="false" strike="noStrike" u="none" sz="15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某投资者希望在未来12个月内,将一笔资金配置于新能源行业,寻求稳健回报,同时严格控制下行风险。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184400"/>
            <a:ext cx="2603500" cy="425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184400"/>
            <a:ext cx="50800" cy="4254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22C55E">
                  <a:alpha val="100000"/>
                </a:srgbClr>
              </a:gs>
              <a:gs pos="100000">
                <a:srgbClr val="86EFAC">
                  <a:alpha val="4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286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2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200400"/>
            <a:ext cx="2349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核心龙头企业</a:t>
            </a: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长期持有策略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3937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行动路径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" y="4191000"/>
            <a:ext cx="23495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筛选行业内具备核心技术优势和市场领导地位的龙头企业,进行集中投资并长期持有。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65200" y="4953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潜在风险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5207000"/>
            <a:ext cx="2349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单一企业经营风险、估值过高风险。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65200" y="5715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应对预案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65200" y="5969000"/>
            <a:ext cx="2349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设定明确的</a:t>
            </a:r>
            <a:r>
              <a:rPr lang="en-US" b="true" i="false" strike="noStrike" u="none" sz="1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"持仓止损边界"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,建立定期跟踪机制。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19500" y="2184400"/>
            <a:ext cx="2603500" cy="425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619500" y="2184400"/>
            <a:ext cx="50800" cy="4254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22C55E">
                  <a:alpha val="100000"/>
                </a:srgbClr>
              </a:gs>
              <a:gs pos="100000">
                <a:srgbClr val="86EFAC">
                  <a:alpha val="4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822700" y="2286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2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822700" y="3200400"/>
            <a:ext cx="2349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产业链细分赛道</a:t>
            </a: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轮动策略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822700" y="3937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行动路径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822700" y="4191000"/>
            <a:ext cx="23495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识别新能源产业链中不同环节的阶段性机会,进行动态轮动投资。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822700" y="4953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潜在风险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822700" y="5207000"/>
            <a:ext cx="2349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轮动节奏把握难度大、细分赛道政策风险。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822700" y="5715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应对预案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822700" y="5969000"/>
            <a:ext cx="2349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建立</a:t>
            </a:r>
            <a:r>
              <a:rPr lang="en-US" b="true" i="false" strike="noStrike" u="none" sz="1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"核心前置风险指标"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监控体系,采用分散轮动策略。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2184400"/>
            <a:ext cx="2603500" cy="425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2184400"/>
            <a:ext cx="50800" cy="4254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22C55E">
                  <a:alpha val="100000"/>
                </a:srgbClr>
              </a:gs>
              <a:gs pos="100000">
                <a:srgbClr val="86EFAC">
                  <a:alpha val="4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680200" y="2286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2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80200" y="3200400"/>
            <a:ext cx="2349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主题ETF</a:t>
            </a: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分散投资策略</a:t>
            </a:r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680200" y="3937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行动路径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680200" y="4191000"/>
            <a:ext cx="23495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投资于跟踪新能源行业指数的ETF,以获取行业平均收益,同时通过分散化降低个股风险。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680200" y="4953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潜在风险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680200" y="5207000"/>
            <a:ext cx="2349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行业整体下行风险、跟踪误差风险。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680200" y="5715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应对预案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680200" y="5969000"/>
            <a:ext cx="2349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采用</a:t>
            </a:r>
            <a:r>
              <a:rPr lang="en-US" b="true" i="false" strike="noStrike" u="none" sz="1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"分层止损机制"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,定期评估ETF的跟踪效果。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9334500" y="2184400"/>
            <a:ext cx="2603500" cy="425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9334500" y="2184400"/>
            <a:ext cx="50800" cy="4254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22C55E">
                  <a:alpha val="100000"/>
                </a:srgbClr>
              </a:gs>
              <a:gs pos="100000">
                <a:srgbClr val="86EFAC">
                  <a:alpha val="4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537700" y="22860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27843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537700" y="3200400"/>
            <a:ext cx="2349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与传统能源</a:t>
            </a: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组合配置策略</a:t>
            </a:r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537700" y="3937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行动路径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537700" y="4191000"/>
            <a:ext cx="2349500" cy="685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将部分资金配置于新能源资产,同时保留一定比例的传统能源资产,形成对冲组合。</a:t>
            </a:r>
            <a:endParaRPr lang="en-US" sz="1100"/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537700" y="4953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潜在风险</a:t>
            </a:r>
            <a:endParaRPr lang="en-US" sz="1100"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537700" y="5207000"/>
            <a:ext cx="2349500" cy="431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组合收益可能被拖累、宏观经济波动风险。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537700" y="5715000"/>
            <a:ext cx="2349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100" spc="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应对预案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9537700" y="5969000"/>
            <a:ext cx="2349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制定</a:t>
            </a:r>
            <a:r>
              <a:rPr lang="en-US" b="true" i="false" strike="noStrike" u="none" sz="12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"极端场景应急预案"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,动态调整两类资产的配置比例。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1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四大行动路径横向对比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2603500" cy="438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50800" cy="4381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22C55E">
                  <a:alpha val="100000"/>
                </a:srgbClr>
              </a:gs>
              <a:gs pos="100000">
                <a:srgbClr val="22C55E">
                  <a:alpha val="2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65200" y="1625600"/>
            <a:ext cx="22225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6400">
                <a:solidFill>
                  <a:srgbClr val="22C55E">
                    <a:alpha val="18039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819400"/>
            <a:ext cx="22225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核心龙头企业</a:t>
            </a: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长期持有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65200" y="3683000"/>
            <a:ext cx="8382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65200" y="3683000"/>
            <a:ext cx="8382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300" spc="2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高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65200" y="4140200"/>
            <a:ext cx="2222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1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主要风险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65200" y="4419600"/>
            <a:ext cx="2222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单一企业经营风险、估值过高风险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65200" y="5207000"/>
            <a:ext cx="50800" cy="4318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1117600" y="5207000"/>
            <a:ext cx="889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0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117600" y="5397500"/>
            <a:ext cx="114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中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619500" y="1524000"/>
            <a:ext cx="2603500" cy="438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619500" y="1524000"/>
            <a:ext cx="50800" cy="4381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22C55E">
                  <a:alpha val="100000"/>
                </a:srgbClr>
              </a:gs>
              <a:gs pos="100000">
                <a:srgbClr val="22C55E">
                  <a:alpha val="2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822700" y="1625600"/>
            <a:ext cx="22225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6400">
                <a:solidFill>
                  <a:srgbClr val="22C55E">
                    <a:alpha val="18039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822700" y="2819400"/>
            <a:ext cx="22225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产业链细分</a:t>
            </a: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赛道轮动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822700" y="3683000"/>
            <a:ext cx="9144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3822700" y="3683000"/>
            <a:ext cx="914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300" spc="1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中高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3822700" y="4140200"/>
            <a:ext cx="2222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1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主要风险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822700" y="4419600"/>
            <a:ext cx="2222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轮动节奏把握难度大、细分赛道政策风险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3822700" y="5207000"/>
            <a:ext cx="50800" cy="4318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3975100" y="5207000"/>
            <a:ext cx="889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0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975100" y="5397500"/>
            <a:ext cx="114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高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1524000"/>
            <a:ext cx="2603500" cy="438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477000" y="1524000"/>
            <a:ext cx="50800" cy="4381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22C55E">
                  <a:alpha val="100000"/>
                </a:srgbClr>
              </a:gs>
              <a:gs pos="100000">
                <a:srgbClr val="22C55E">
                  <a:alpha val="2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680200" y="1625600"/>
            <a:ext cx="22225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6400">
                <a:solidFill>
                  <a:srgbClr val="22C55E">
                    <a:alpha val="18039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680200" y="2819400"/>
            <a:ext cx="22225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主题ETF</a:t>
            </a: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分散投资</a:t>
            </a:r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680200" y="3683000"/>
            <a:ext cx="9144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680200" y="3683000"/>
            <a:ext cx="914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300" spc="1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中等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680200" y="4140200"/>
            <a:ext cx="2222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1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主要风险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680200" y="4419600"/>
            <a:ext cx="2222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行业整体下行风险、跟踪误差风险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680200" y="5207000"/>
            <a:ext cx="50800" cy="431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6832600" y="5207000"/>
            <a:ext cx="889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0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6832600" y="5397500"/>
            <a:ext cx="114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低</a:t>
            </a:r>
            <a:endParaRPr lang="en-US" sz="1100"/>
          </a:p>
        </p:txBody>
      </p:sp>
      <p:sp>
        <p:nvSpPr>
          <p:cNvPr name="AutoShape 37" id="37"/>
          <p:cNvSpPr/>
          <p:nvPr/>
        </p:nvSpPr>
        <p:spPr>
          <a:xfrm rot="0" flipH="false" flipV="false">
            <a:off x="9334500" y="1524000"/>
            <a:ext cx="2603500" cy="4381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8" id="38"/>
          <p:cNvSpPr/>
          <p:nvPr/>
        </p:nvSpPr>
        <p:spPr>
          <a:xfrm rot="0" flipH="false" flipV="false">
            <a:off x="9334500" y="1524000"/>
            <a:ext cx="50800" cy="43815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22C55E">
                  <a:alpha val="100000"/>
                </a:srgbClr>
              </a:gs>
              <a:gs pos="100000">
                <a:srgbClr val="22C55E">
                  <a:alpha val="25000"/>
                </a:srgbClr>
              </a:gs>
            </a:gsLst>
            <a:lin ang="54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9" id="39"/>
          <p:cNvSpPr/>
          <p:nvPr/>
        </p:nvSpPr>
        <p:spPr>
          <a:xfrm rot="0" flipH="false" flipV="false">
            <a:off x="9537700" y="1625600"/>
            <a:ext cx="2222500" cy="1092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6400">
                <a:solidFill>
                  <a:srgbClr val="22C55E">
                    <a:alpha val="18039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sp>
        <p:nvSpPr>
          <p:cNvPr name="AutoShape 40" id="40"/>
          <p:cNvSpPr/>
          <p:nvPr/>
        </p:nvSpPr>
        <p:spPr>
          <a:xfrm rot="0" flipH="false" flipV="false">
            <a:off x="9537700" y="2819400"/>
            <a:ext cx="22225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25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与传统能源</a:t>
            </a: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12500"/>
              </a:lnSpc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组合配置</a:t>
            </a:r>
          </a:p>
        </p:txBody>
      </p:sp>
      <p:sp>
        <p:nvSpPr>
          <p:cNvPr name="AutoShape 41" id="41"/>
          <p:cNvSpPr/>
          <p:nvPr/>
        </p:nvSpPr>
        <p:spPr>
          <a:xfrm rot="0" flipH="false" flipV="false">
            <a:off x="9537700" y="3683000"/>
            <a:ext cx="914400" cy="330200"/>
          </a:xfrm>
          <a:prstGeom prst="roundRect">
            <a:avLst>
              <a:gd name="adj" fmla="val 0"/>
            </a:avLst>
          </a:prstGeom>
          <a:solidFill>
            <a:srgbClr val="22C55E">
              <a:alpha val="14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2" id="42"/>
          <p:cNvSpPr/>
          <p:nvPr/>
        </p:nvSpPr>
        <p:spPr>
          <a:xfrm rot="0" flipH="false" flipV="false">
            <a:off x="9537700" y="3683000"/>
            <a:ext cx="9144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1300" spc="100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稳健</a:t>
            </a:r>
            <a:endParaRPr lang="en-US" sz="1100"/>
          </a:p>
        </p:txBody>
      </p:sp>
      <p:sp>
        <p:nvSpPr>
          <p:cNvPr name="AutoShape 43" id="43"/>
          <p:cNvSpPr/>
          <p:nvPr/>
        </p:nvSpPr>
        <p:spPr>
          <a:xfrm rot="0" flipH="false" flipV="false">
            <a:off x="9537700" y="4140200"/>
            <a:ext cx="2222500" cy="228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1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主要风险</a:t>
            </a:r>
            <a:endParaRPr lang="en-US" sz="1100"/>
          </a:p>
        </p:txBody>
      </p:sp>
      <p:sp>
        <p:nvSpPr>
          <p:cNvPr name="AutoShape 44" id="44"/>
          <p:cNvSpPr/>
          <p:nvPr/>
        </p:nvSpPr>
        <p:spPr>
          <a:xfrm rot="0" flipH="false" flipV="false">
            <a:off x="9537700" y="4419600"/>
            <a:ext cx="22225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0833"/>
              </a:lnSpc>
              <a:defRPr/>
            </a:pP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组合收益可能被拖累、宏观经济波动风险</a:t>
            </a:r>
            <a:endParaRPr lang="en-US" sz="1100"/>
          </a:p>
        </p:txBody>
      </p:sp>
      <p:sp>
        <p:nvSpPr>
          <p:cNvPr name="AutoShape 45" id="45"/>
          <p:cNvSpPr/>
          <p:nvPr/>
        </p:nvSpPr>
        <p:spPr>
          <a:xfrm rot="0" flipH="false" flipV="false">
            <a:off x="9537700" y="5207000"/>
            <a:ext cx="50800" cy="431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6" id="46"/>
          <p:cNvSpPr/>
          <p:nvPr/>
        </p:nvSpPr>
        <p:spPr>
          <a:xfrm rot="0" flipH="false" flipV="false">
            <a:off x="9690100" y="5207000"/>
            <a:ext cx="889000" cy="203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false" i="false" strike="noStrike" u="none" sz="1000" spc="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风险等级</a:t>
            </a:r>
            <a:endParaRPr lang="en-US" sz="1100"/>
          </a:p>
        </p:txBody>
      </p:sp>
      <p:sp>
        <p:nvSpPr>
          <p:cNvPr name="AutoShape 47" id="47"/>
          <p:cNvSpPr/>
          <p:nvPr/>
        </p:nvSpPr>
        <p:spPr>
          <a:xfrm rot="0" flipH="false" flipV="false">
            <a:off x="9690100" y="5397500"/>
            <a:ext cx="1143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15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中低</a:t>
            </a:r>
            <a:endParaRPr lang="en-US" sz="1100"/>
          </a:p>
        </p:txBody>
      </p:sp>
      <p:sp>
        <p:nvSpPr>
          <p:cNvPr name="AutoShape 48" id="48"/>
          <p:cNvSpPr/>
          <p:nvPr/>
        </p:nvSpPr>
        <p:spPr>
          <a:xfrm rot="0" flipH="false" flipV="false">
            <a:off x="762000" y="6121400"/>
            <a:ext cx="10668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注:以上"潜在收益"与"风险等级"均为基于当前市场情境的定性评估,仅供决策参考。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内置风控理念:助您从容应对市场波动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我们的工具不仅提供决策路径,更将风险控制理念深度融入分析过程,帮助您在追求收益的同时,守住风险底线。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574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分层止损机制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489200"/>
            <a:ext cx="10668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这是一种动态的风险控制策略。工具会根据不同路径的风险等级和市场实时变化,建议设置多档止损线。例如: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971800"/>
            <a:ext cx="35306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971800"/>
            <a:ext cx="508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90600" y="2997200"/>
            <a:ext cx="1270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2196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286000" y="3048000"/>
            <a:ext cx="1879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一级止损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2286000" y="3429000"/>
            <a:ext cx="18796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用于过滤日常市场噪音,控制小幅波动带来的损失。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84700" y="2971800"/>
            <a:ext cx="35306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84700" y="2971800"/>
            <a:ext cx="508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813300" y="2997200"/>
            <a:ext cx="1270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2196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108700" y="3048000"/>
            <a:ext cx="1879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二级止损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108700" y="3429000"/>
            <a:ext cx="18796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用于应对中期趋势的反转信号,保护已有利润。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407400" y="2971800"/>
            <a:ext cx="35306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407400" y="2971800"/>
            <a:ext cx="508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636000" y="2997200"/>
            <a:ext cx="1270000" cy="838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4800">
                <a:solidFill>
                  <a:srgbClr val="22C55E">
                    <a:alpha val="2196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931400" y="3048000"/>
            <a:ext cx="18796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三级止损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931400" y="3429000"/>
            <a:ext cx="1879600" cy="736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用于防范极端市场事件,避免重大本金损失。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762000" y="4876800"/>
            <a:ext cx="635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极端场景应急预案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5359400"/>
            <a:ext cx="10922000" cy="1092200"/>
          </a:xfrm>
          <a:prstGeom prst="roundRect">
            <a:avLst>
              <a:gd name="adj" fmla="val 0"/>
            </a:avLst>
          </a:prstGeom>
          <a:gradFill rotWithShape="true">
            <a:gsLst>
              <a:gs pos="0">
                <a:srgbClr val="22C55E">
                  <a:alpha val="10000"/>
                </a:srgbClr>
              </a:gs>
              <a:gs pos="100000">
                <a:srgbClr val="22C55E">
                  <a:alpha val="2000"/>
                </a:srgbClr>
              </a:gs>
            </a:gsLst>
            <a:lin ang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62000" y="5359400"/>
            <a:ext cx="76200" cy="10922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1041400" y="5435600"/>
            <a:ext cx="10414000" cy="863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工具能够模拟多种极端但可能发生的市场场景(如全球性金融危机、重大政策突变、行业技术颠覆等)。针对每种场景,系统会提供预设的应对策略和资产配置调整建议,帮助您在压力下做出更理性、更迅速的决策,而不是陷入恐慌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实机操作演示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2032000" y="1651000"/>
            <a:ext cx="8128000" cy="3175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2032000" y="1651000"/>
            <a:ext cx="50800" cy="3175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978400" y="2184400"/>
            <a:ext cx="965200" cy="9652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978400" y="2184400"/>
            <a:ext cx="965200" cy="965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83333"/>
              </a:lnSpc>
              <a:defRPr/>
            </a:pPr>
            <a:r>
              <a:rPr lang="en-US" b="true" i="false" strike="noStrike" u="none" sz="4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▶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032000" y="3352800"/>
            <a:ext cx="812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true" i="false" strike="noStrike" u="none" sz="2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视频演示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2277" flipH="false" flipV="false">
            <a:off x="4318011" y="3930650"/>
            <a:ext cx="355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2032000" y="4064000"/>
            <a:ext cx="812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640 × 360 · 完整操作流程展示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16000" y="5334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33333"/>
              </a:lnSpc>
              <a:defRPr/>
            </a:pP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以下为工具实机操作演示,展示从</a:t>
            </a: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问题输入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到</a:t>
            </a:r>
            <a:r>
              <a:rPr lang="en-US" b="true" i="false" strike="noStrike" u="none" sz="16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结构化方案输出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的完整过程。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635000"/>
            <a:ext cx="10668000" cy="609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从Demo到商用:无限可能的扩展能力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460500"/>
            <a:ext cx="10668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本次演示仅为功能展示,所使用的数据和场景均为示例。我们的商用版本将具备更强大的扩展能力,以满足您的实际业务需求。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266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413000"/>
            <a:ext cx="50800" cy="368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5400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5600">
                <a:solidFill>
                  <a:srgbClr val="22C55E">
                    <a:alpha val="2196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683000"/>
            <a:ext cx="228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实时数据接入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191000"/>
            <a:ext cx="2286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无缝对接全球主流金融市场的实时行情、新闻资讯和企业公告,确保分析基于最新信息。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683000" y="2413000"/>
            <a:ext cx="266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83000" y="2413000"/>
            <a:ext cx="50800" cy="368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937000" y="25400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5600">
                <a:solidFill>
                  <a:srgbClr val="22C55E">
                    <a:alpha val="2196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937000" y="3683000"/>
            <a:ext cx="228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多场景支持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937000" y="4191000"/>
            <a:ext cx="228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不仅限于投资决策,还可支持企业战略规划、项目风险评估、供应链管理等多种复杂决策场景。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604000" y="2413000"/>
            <a:ext cx="266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604000" y="2413000"/>
            <a:ext cx="50800" cy="368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858000" y="25400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5600">
                <a:solidFill>
                  <a:srgbClr val="22C55E">
                    <a:alpha val="2196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858000" y="3683000"/>
            <a:ext cx="228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个性化配置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58000" y="4191000"/>
            <a:ext cx="228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允许用户根据自身的风险偏好、投资周期和专业领域,定制分析模型和输出报告的格式。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0" y="2413000"/>
            <a:ext cx="266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5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525000" y="2413000"/>
            <a:ext cx="50800" cy="3683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9779000" y="2540000"/>
            <a:ext cx="228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83333"/>
              </a:lnSpc>
              <a:defRPr/>
            </a:pPr>
            <a:r>
              <a:rPr lang="en-US" b="true" i="false" strike="noStrike" u="none" sz="5600">
                <a:solidFill>
                  <a:srgbClr val="22C55E">
                    <a:alpha val="21961"/>
                  </a:srgbClr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779000" y="3683000"/>
            <a:ext cx="228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22C55E"/>
                </a:solidFill>
                <a:latin typeface="Noto Sans SC"/>
                <a:ea typeface="Noto Sans SC"/>
                <a:cs typeface="Noto Sans SC"/>
                <a:sym typeface="Noto Sans SC"/>
              </a:rPr>
              <a:t>系统集成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779000" y="4191000"/>
            <a:ext cx="2286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提供标准API接口,可与您现有的CRM、ERP或其他业务系统深度集成,实现工作流的无缝衔接。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/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true">
            <a:gsLst>
              <a:gs pos="15000">
                <a:srgbClr val="000000">
                  <a:alpha val="15000"/>
                </a:srgbClr>
              </a:gs>
              <a:gs pos="40000">
                <a:srgbClr val="000000">
                  <a:alpha val="32000"/>
                </a:srgbClr>
              </a:gs>
              <a:gs pos="72000">
                <a:srgbClr val="000000">
                  <a:alpha val="48000"/>
                </a:srgbClr>
              </a:gs>
              <a:gs pos="100000">
                <a:srgbClr val="000000">
                  <a:alpha val="50000"/>
                </a:srgbClr>
              </a:gs>
            </a:gsLst>
            <a:path path="circle">
              <a:fillToRect l="50000" r="50000" t="50000" b="50000"/>
            </a:path>
            <a:tileRect t="0" b="0" l="0" r="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905000"/>
            <a:ext cx="10414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4800" spc="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赋能决策,智在人为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3200400"/>
            <a:ext cx="10414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3200" spc="1000">
                <a:solidFill>
                  <a:srgbClr val="FFFFFF">
                    <a:alpha val="9607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感谢您的关注!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4572000"/>
            <a:ext cx="3365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4572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70000" y="4749800"/>
            <a:ext cx="28575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 spc="4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项目联系人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270000" y="5080000"/>
            <a:ext cx="2857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[姓名]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60900" y="4572000"/>
            <a:ext cx="33782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60900" y="4572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914900" y="4749800"/>
            <a:ext cx="292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 spc="4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联系邮箱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914900" y="5080000"/>
            <a:ext cx="2984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[邮箱地址]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293100" y="4572000"/>
            <a:ext cx="33909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13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93100" y="4572000"/>
            <a:ext cx="508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547100" y="4749800"/>
            <a:ext cx="2921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 spc="400">
                <a:solidFill>
                  <a:srgbClr val="FFFFFF">
                    <a:alpha val="5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联系电话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547100" y="5080000"/>
            <a:ext cx="29845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[电话号码]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{"Label":"1","ContentProducer":"001191110102MACQD9K64010000","ProduceID":"7667826724554755031","ReservedCode1":"","ContentPropagator":"","PropagateID":"","ReservedCode2":""}</vt:lpwstr>
  </property>
</Properties>
</file>